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/>
    <p:restoredTop sz="94715"/>
  </p:normalViewPr>
  <p:slideViewPr>
    <p:cSldViewPr>
      <p:cViewPr>
        <p:scale>
          <a:sx n="86" d="100"/>
          <a:sy n="86" d="100"/>
        </p:scale>
        <p:origin x="1424" y="9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08/05/2025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08/05/2025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08/05/2025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08/05/2025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08/05/2025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3738" y="422605"/>
            <a:ext cx="8764523" cy="641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2835" y="1250086"/>
            <a:ext cx="9725660" cy="3154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324592" y="6460642"/>
            <a:ext cx="143129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0491" y="6460642"/>
            <a:ext cx="752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08/05/2025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8486" y="1256685"/>
            <a:ext cx="9450514" cy="461473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655570" marR="5080" indent="-2643505">
              <a:lnSpc>
                <a:spcPts val="3479"/>
              </a:lnSpc>
              <a:spcBef>
                <a:spcPts val="50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</a:t>
            </a:r>
            <a:r>
              <a:rPr sz="20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20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sz="2000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0491" y="1808484"/>
            <a:ext cx="11375391" cy="2492989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R="147320" algn="ctr">
              <a:lnSpc>
                <a:spcPct val="100000"/>
              </a:lnSpc>
              <a:spcBef>
                <a:spcPts val="919"/>
              </a:spcBef>
            </a:pPr>
            <a:r>
              <a:rPr sz="170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V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BTECH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SEM</a:t>
            </a:r>
            <a:endParaRPr sz="1700" dirty="0">
              <a:latin typeface="Times New Roman"/>
              <a:cs typeface="Times New Roman"/>
            </a:endParaRPr>
          </a:p>
          <a:p>
            <a:pPr marR="153035" algn="ctr">
              <a:lnSpc>
                <a:spcPct val="100000"/>
              </a:lnSpc>
              <a:spcBef>
                <a:spcPts val="815"/>
              </a:spcBef>
            </a:pPr>
            <a:r>
              <a:rPr sz="1700" spc="-35" dirty="0">
                <a:latin typeface="Times New Roman"/>
                <a:cs typeface="Times New Roman"/>
              </a:rPr>
              <a:t>BATCH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9</a:t>
            </a:r>
            <a:endParaRPr lang="en-US" sz="1700" spc="-50" dirty="0">
              <a:latin typeface="Times New Roman"/>
              <a:cs typeface="Times New Roman"/>
            </a:endParaRPr>
          </a:p>
          <a:p>
            <a:pPr marR="153035" algn="ctr">
              <a:lnSpc>
                <a:spcPct val="100000"/>
              </a:lnSpc>
              <a:spcBef>
                <a:spcPts val="815"/>
              </a:spcBef>
            </a:pPr>
            <a:r>
              <a:rPr lang="en-IN" sz="1700" b="1" spc="-50" dirty="0">
                <a:latin typeface="Times New Roman"/>
                <a:cs typeface="Times New Roman"/>
              </a:rPr>
              <a:t>SUBJECT:</a:t>
            </a:r>
            <a:r>
              <a:rPr lang="en-IN" sz="1700" spc="-50" dirty="0">
                <a:latin typeface="Times New Roman"/>
                <a:cs typeface="Times New Roman"/>
              </a:rPr>
              <a:t> Data Mining Laboratory</a:t>
            </a:r>
            <a:endParaRPr sz="1700" dirty="0">
              <a:latin typeface="Times New Roman"/>
              <a:cs typeface="Times New Roman"/>
            </a:endParaRPr>
          </a:p>
          <a:p>
            <a:pPr marR="123189" algn="ctr">
              <a:spcBef>
                <a:spcPts val="795"/>
              </a:spcBef>
            </a:pPr>
            <a:r>
              <a:rPr sz="3200" b="1" spc="-10" dirty="0">
                <a:latin typeface="Times New Roman"/>
                <a:cs typeface="Times New Roman"/>
              </a:rPr>
              <a:t>TOPIC:</a:t>
            </a:r>
            <a:r>
              <a:rPr lang="en-US" sz="3200" b="1" spc="-1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AIR QUALITY INDEX(AQI) PREDICTOR</a:t>
            </a:r>
            <a:endParaRPr sz="3200" dirty="0">
              <a:latin typeface="Times New Roman"/>
              <a:cs typeface="Times New Roman"/>
            </a:endParaRPr>
          </a:p>
          <a:p>
            <a:pPr marR="151130" algn="ctr">
              <a:lnSpc>
                <a:spcPct val="100000"/>
              </a:lnSpc>
              <a:spcBef>
                <a:spcPts val="795"/>
              </a:spcBef>
            </a:pPr>
            <a:r>
              <a:rPr lang="en-US" sz="1700" dirty="0">
                <a:latin typeface="Times New Roman"/>
                <a:cs typeface="Times New Roman"/>
              </a:rPr>
              <a:t>             </a:t>
            </a:r>
            <a:r>
              <a:rPr sz="1700" dirty="0">
                <a:latin typeface="Times New Roman"/>
                <a:cs typeface="Times New Roman"/>
              </a:rPr>
              <a:t>TEAM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MEMBERS</a:t>
            </a:r>
            <a:r>
              <a:rPr lang="en-US" sz="1700" dirty="0">
                <a:latin typeface="Times New Roman"/>
                <a:cs typeface="Times New Roman"/>
              </a:rPr>
              <a:t>:</a:t>
            </a:r>
          </a:p>
          <a:p>
            <a:pPr marR="151130" algn="ctr">
              <a:lnSpc>
                <a:spcPct val="100000"/>
              </a:lnSpc>
              <a:spcBef>
                <a:spcPts val="795"/>
              </a:spcBef>
            </a:pPr>
            <a:endParaRPr lang="en-US" sz="17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155408"/>
            <a:ext cx="1892808" cy="108676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380491" y="6460642"/>
            <a:ext cx="752475" cy="1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10" dirty="0"/>
              <a:t>26</a:t>
            </a:r>
            <a:r>
              <a:rPr spc="-10" dirty="0"/>
              <a:t>/</a:t>
            </a:r>
            <a:r>
              <a:rPr lang="en-US" spc="-10" dirty="0"/>
              <a:t>10</a:t>
            </a:r>
            <a:r>
              <a:rPr spc="-10" dirty="0"/>
              <a:t>/202</a:t>
            </a:r>
            <a:r>
              <a:rPr lang="en-US" spc="-10" dirty="0"/>
              <a:t>6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5884545" y="6460642"/>
            <a:ext cx="48069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78787"/>
                </a:solidFill>
                <a:latin typeface="Calibri"/>
                <a:cs typeface="Calibri"/>
              </a:rPr>
              <a:t>B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atch</a:t>
            </a:r>
            <a:r>
              <a:rPr sz="1200" spc="-6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D8F2B4-63A2-29FE-828C-F9A341D74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467627"/>
              </p:ext>
            </p:extLst>
          </p:nvPr>
        </p:nvGraphicFramePr>
        <p:xfrm>
          <a:off x="4648200" y="4114800"/>
          <a:ext cx="4064000" cy="1854200"/>
        </p:xfrm>
        <a:graphic>
          <a:graphicData uri="http://schemas.openxmlformats.org/drawingml/2006/table">
            <a:tbl>
              <a:tblPr firstRow="1" bandRow="1"/>
              <a:tblGrid>
                <a:gridCol w="1778000">
                  <a:extLst>
                    <a:ext uri="{9D8B030D-6E8A-4147-A177-3AD203B41FA5}">
                      <a16:colId xmlns:a16="http://schemas.microsoft.com/office/drawing/2014/main" val="324465601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118685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S.Sirisha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23D41A66G9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3341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T.Harini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23D41A66H0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7794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T.Rishwanth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23D41A66H1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943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U.Navya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23D41A66H2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231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U.Akash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23D41A66H3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27408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551" rIns="0" bIns="0" rtlCol="0">
            <a:spAutoFit/>
          </a:bodyPr>
          <a:lstStyle/>
          <a:p>
            <a:pPr marL="33235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ABSTRACT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6F407D-6EF6-BB87-9944-CF2647FDC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835" y="1250086"/>
            <a:ext cx="9725660" cy="271465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dirty="0"/>
              <a:t>The Air Quality Index (AQI) Prediction System uses machine learning to classify air quality based on PM2.5 concentration, hour, and month. It predicts air quality categories using three algorithms: Decision Tree, Naive Bayes, and K-Nearest </a:t>
            </a:r>
            <a:r>
              <a:rPr lang="en-IN" sz="2000" dirty="0" err="1"/>
              <a:t>Neighbors</a:t>
            </a:r>
            <a:r>
              <a:rPr lang="en-IN" sz="2000" dirty="0"/>
              <a:t> (KNN).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Developed using Python and </a:t>
            </a:r>
            <a:r>
              <a:rPr lang="en-IN" sz="2000" dirty="0" err="1"/>
              <a:t>Streamlit</a:t>
            </a:r>
            <a:r>
              <a:rPr lang="en-IN" sz="2000" dirty="0"/>
              <a:t>, the system provides an interactive interface for viewing predictions, comparing model performance, and understanding potential health risks through visualizations and health recommendations.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9" y="201168"/>
            <a:ext cx="1185672" cy="792479"/>
          </a:xfrm>
          <a:prstGeom prst="rect">
            <a:avLst/>
          </a:prstGeom>
        </p:spPr>
      </p:pic>
      <p:sp>
        <p:nvSpPr>
          <p:cNvPr id="14" name="object 5">
            <a:extLst>
              <a:ext uri="{FF2B5EF4-FFF2-40B4-BE49-F238E27FC236}">
                <a16:creationId xmlns:a16="http://schemas.microsoft.com/office/drawing/2014/main" id="{0CE95E72-896C-B722-FF35-177DB186DC3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80491" y="6460642"/>
            <a:ext cx="752475" cy="1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10" dirty="0"/>
              <a:t>26</a:t>
            </a:r>
            <a:r>
              <a:rPr spc="-10" dirty="0"/>
              <a:t>/</a:t>
            </a:r>
            <a:r>
              <a:rPr lang="en-US" spc="-10" dirty="0"/>
              <a:t>10</a:t>
            </a:r>
            <a:r>
              <a:rPr spc="-10" dirty="0"/>
              <a:t>/202</a:t>
            </a:r>
            <a:r>
              <a:rPr lang="en-US" spc="-10" dirty="0"/>
              <a:t>6</a:t>
            </a:r>
            <a:endParaRPr spc="-10" dirty="0"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8DD4850B-2A63-D4A1-5C4F-84A94F036CF2}"/>
              </a:ext>
            </a:extLst>
          </p:cNvPr>
          <p:cNvSpPr txBox="1"/>
          <p:nvPr/>
        </p:nvSpPr>
        <p:spPr>
          <a:xfrm>
            <a:off x="5884545" y="6460642"/>
            <a:ext cx="48069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78787"/>
                </a:solidFill>
                <a:latin typeface="Calibri"/>
                <a:cs typeface="Calibri"/>
              </a:rPr>
              <a:t>B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atch</a:t>
            </a:r>
            <a:r>
              <a:rPr sz="1200" spc="-6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45D24166-31B0-DB4F-1897-845B9FCA47D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24592" y="6460642"/>
            <a:ext cx="14312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97785">
              <a:lnSpc>
                <a:spcPct val="100000"/>
              </a:lnSpc>
              <a:spcBef>
                <a:spcPts val="95"/>
              </a:spcBef>
            </a:pPr>
            <a:r>
              <a:rPr dirty="0"/>
              <a:t>EXISTING</a:t>
            </a:r>
            <a:r>
              <a:rPr spc="-20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DA76B-065B-C42E-7829-7558F4580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835" y="1250086"/>
            <a:ext cx="9725660" cy="363798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dirty="0"/>
              <a:t>Traditional systems measure pollutant concentrations and classify air quality according to established standards. However, interpreting raw measurements and understanding their health effects can be difficult for ordinary users.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Limitations: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Raw pollution data can be difficult to understand.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Interactive visualizations may be limited.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Comparing machine learning models may require additional tools.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Health recommendations may not be clearly presented.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9" y="201168"/>
            <a:ext cx="1185672" cy="792479"/>
          </a:xfrm>
          <a:prstGeom prst="rect">
            <a:avLst/>
          </a:prstGeom>
        </p:spPr>
      </p:pic>
      <p:sp>
        <p:nvSpPr>
          <p:cNvPr id="11" name="object 5">
            <a:extLst>
              <a:ext uri="{FF2B5EF4-FFF2-40B4-BE49-F238E27FC236}">
                <a16:creationId xmlns:a16="http://schemas.microsoft.com/office/drawing/2014/main" id="{A32AE084-609A-DE9E-359E-E3F8BE05F9C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80491" y="6460642"/>
            <a:ext cx="752475" cy="1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10" dirty="0"/>
              <a:t>26</a:t>
            </a:r>
            <a:r>
              <a:rPr spc="-10" dirty="0"/>
              <a:t>/</a:t>
            </a:r>
            <a:r>
              <a:rPr lang="en-US" spc="-10" dirty="0"/>
              <a:t>10</a:t>
            </a:r>
            <a:r>
              <a:rPr spc="-10" dirty="0"/>
              <a:t>/202</a:t>
            </a:r>
            <a:r>
              <a:rPr lang="en-US" spc="-10" dirty="0"/>
              <a:t>6</a:t>
            </a:r>
            <a:endParaRPr spc="-10"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5D3F015E-4D57-64BC-4BB3-E394C8A245E0}"/>
              </a:ext>
            </a:extLst>
          </p:cNvPr>
          <p:cNvSpPr txBox="1"/>
          <p:nvPr/>
        </p:nvSpPr>
        <p:spPr>
          <a:xfrm>
            <a:off x="5884545" y="6460642"/>
            <a:ext cx="48069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78787"/>
                </a:solidFill>
                <a:latin typeface="Calibri"/>
                <a:cs typeface="Calibri"/>
              </a:rPr>
              <a:t>B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atch</a:t>
            </a:r>
            <a:r>
              <a:rPr sz="1200" spc="-6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C79C089A-C1C2-5257-B00A-B036BEA48D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24592" y="6460642"/>
            <a:ext cx="14312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55778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PROPOSED</a:t>
            </a:r>
            <a:r>
              <a:rPr spc="-1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B262C-2B60-598E-3D33-F93FE7BB4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835" y="1250086"/>
            <a:ext cx="9725660" cy="409964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dirty="0"/>
              <a:t>The proposed system uses machine learning to classify air quality based on historical environmental data. It provides an interactive </a:t>
            </a:r>
            <a:r>
              <a:rPr lang="en-IN" sz="2000" dirty="0" err="1"/>
              <a:t>Streamlit</a:t>
            </a:r>
            <a:r>
              <a:rPr lang="en-IN" sz="2000" dirty="0"/>
              <a:t> application where users can enter environmental values, view predicted categories, and understand potential health effects.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Key Features: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Data preparation and </a:t>
            </a:r>
            <a:r>
              <a:rPr lang="en-IN" sz="2000" dirty="0" err="1"/>
              <a:t>preprocessing</a:t>
            </a:r>
            <a:r>
              <a:rPr lang="en-IN" sz="2000" dirty="0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Decision Tree, Naive Bayes, and KNN algorithms.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AQI prediction using PM2.5, hour, and month.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Model performance comparison and visualizations.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Health recommendations based on predicted air quality.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9" y="201168"/>
            <a:ext cx="1185672" cy="79247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EC839AC-BD99-DFD9-A177-6C0268B4DF8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80491" y="6460642"/>
            <a:ext cx="752475" cy="1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10" dirty="0"/>
              <a:t>26</a:t>
            </a:r>
            <a:r>
              <a:rPr spc="-10" dirty="0"/>
              <a:t>/</a:t>
            </a:r>
            <a:r>
              <a:rPr lang="en-US" spc="-10" dirty="0"/>
              <a:t>10</a:t>
            </a:r>
            <a:r>
              <a:rPr spc="-10" dirty="0"/>
              <a:t>/202</a:t>
            </a:r>
            <a:r>
              <a:rPr lang="en-US" spc="-10" dirty="0"/>
              <a:t>6</a:t>
            </a:r>
            <a:endParaRPr spc="-10" dirty="0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6C45F14E-30E6-CA6D-364D-62EF5254EFB6}"/>
              </a:ext>
            </a:extLst>
          </p:cNvPr>
          <p:cNvSpPr txBox="1"/>
          <p:nvPr/>
        </p:nvSpPr>
        <p:spPr>
          <a:xfrm>
            <a:off x="5884545" y="6460642"/>
            <a:ext cx="48069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78787"/>
                </a:solidFill>
                <a:latin typeface="Calibri"/>
                <a:cs typeface="Calibri"/>
              </a:rPr>
              <a:t>B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atch</a:t>
            </a:r>
            <a:r>
              <a:rPr sz="1200" spc="-6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8E7EE72-6727-D724-EF9F-19D0BAEAE9E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24592" y="6460642"/>
            <a:ext cx="14312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9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HARDWARE</a:t>
            </a:r>
            <a:r>
              <a:rPr spc="-165" dirty="0"/>
              <a:t> </a:t>
            </a:r>
            <a:r>
              <a:rPr dirty="0"/>
              <a:t>AND</a:t>
            </a:r>
            <a:r>
              <a:rPr spc="-200" dirty="0"/>
              <a:t> </a:t>
            </a:r>
            <a:r>
              <a:rPr spc="-40" dirty="0"/>
              <a:t>SOFTWARE</a:t>
            </a:r>
            <a:r>
              <a:rPr spc="-9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1990" y="1261838"/>
            <a:ext cx="7887209" cy="4142801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i3 or above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4 GB or above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Disk: 10 GB free space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64-bit computer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Pandas, NumPy, Scikit-learn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Framework: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Visual Studio Code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 Google Chrome</a:t>
            </a:r>
          </a:p>
          <a:p>
            <a:pPr algn="just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9" y="201168"/>
            <a:ext cx="1185672" cy="79247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D2ADE63-A593-3EA7-686A-0EE7090451C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80491" y="6460642"/>
            <a:ext cx="752475" cy="1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10" dirty="0"/>
              <a:t>26</a:t>
            </a:r>
            <a:r>
              <a:rPr spc="-10" dirty="0"/>
              <a:t>/</a:t>
            </a:r>
            <a:r>
              <a:rPr lang="en-US" spc="-10" dirty="0"/>
              <a:t>10</a:t>
            </a:r>
            <a:r>
              <a:rPr spc="-10" dirty="0"/>
              <a:t>/202</a:t>
            </a:r>
            <a:r>
              <a:rPr lang="en-US" spc="-10" dirty="0"/>
              <a:t>6</a:t>
            </a:r>
            <a:endParaRPr spc="-10" dirty="0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BD48AF41-CD7A-305E-C399-1F781FF0A3BE}"/>
              </a:ext>
            </a:extLst>
          </p:cNvPr>
          <p:cNvSpPr txBox="1"/>
          <p:nvPr/>
        </p:nvSpPr>
        <p:spPr>
          <a:xfrm>
            <a:off x="5884545" y="6460642"/>
            <a:ext cx="48069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78787"/>
                </a:solidFill>
                <a:latin typeface="Calibri"/>
                <a:cs typeface="Calibri"/>
              </a:rPr>
              <a:t>B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atch</a:t>
            </a:r>
            <a:r>
              <a:rPr sz="1200" spc="-6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D6F83834-96D0-6112-2E12-6324F3B2E9E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24592" y="6460642"/>
            <a:ext cx="14312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782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IMPLEMENTATION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4A9D393-DC98-D666-8655-460F05A6B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835" y="1250086"/>
            <a:ext cx="9725660" cy="389465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The system follows a sequence of steps to process historical environmental data, train machine learning models, and generate air quality predictions.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Load the air quality dataset.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Prepare input features and target categories.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Split the dataset into training and testing sets.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Train Decision Tree, Naive Bayes, and KNN models.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Evaluate and compare model performance.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Display predictions, visualizations, and health recommendations.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26D0B099-57F0-E4F9-2234-05F6BEA5F7A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ABA0865-DAD2-A256-8EC8-7AC0219E767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10" dirty="0"/>
              <a:t>26</a:t>
            </a:r>
            <a:r>
              <a:rPr spc="-10" dirty="0"/>
              <a:t>/</a:t>
            </a:r>
            <a:r>
              <a:rPr lang="en-US" spc="-10" dirty="0"/>
              <a:t>10</a:t>
            </a:r>
            <a:r>
              <a:rPr spc="-10" dirty="0"/>
              <a:t>/202</a:t>
            </a:r>
            <a:r>
              <a:rPr lang="en-US" spc="-10" dirty="0"/>
              <a:t>6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9" y="201168"/>
            <a:ext cx="1185672" cy="792479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1162B225-582D-19AF-CE83-38CDF8AE7919}"/>
              </a:ext>
            </a:extLst>
          </p:cNvPr>
          <p:cNvSpPr txBox="1"/>
          <p:nvPr/>
        </p:nvSpPr>
        <p:spPr>
          <a:xfrm>
            <a:off x="5884545" y="6460642"/>
            <a:ext cx="48069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78787"/>
                </a:solidFill>
                <a:latin typeface="Calibri"/>
                <a:cs typeface="Calibri"/>
              </a:rPr>
              <a:t>B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atch</a:t>
            </a:r>
            <a:r>
              <a:rPr sz="1200" spc="-6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9" y="201168"/>
            <a:ext cx="1185672" cy="7924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EB136C-3F4F-BEE0-A504-8D4272F5F93D}"/>
              </a:ext>
            </a:extLst>
          </p:cNvPr>
          <p:cNvSpPr txBox="1"/>
          <p:nvPr/>
        </p:nvSpPr>
        <p:spPr>
          <a:xfrm>
            <a:off x="5082883" y="335797"/>
            <a:ext cx="1603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D8DBF0C3-E9D0-423E-081A-8D8EF8FD107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80491" y="6460642"/>
            <a:ext cx="752475" cy="1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10" dirty="0"/>
              <a:t>26</a:t>
            </a:r>
            <a:r>
              <a:rPr spc="-10" dirty="0"/>
              <a:t>/</a:t>
            </a:r>
            <a:r>
              <a:rPr lang="en-US" spc="-10" dirty="0"/>
              <a:t>10</a:t>
            </a:r>
            <a:r>
              <a:rPr spc="-10" dirty="0"/>
              <a:t>/202</a:t>
            </a:r>
            <a:r>
              <a:rPr lang="en-US" spc="-10" dirty="0"/>
              <a:t>6</a:t>
            </a:r>
            <a:endParaRPr spc="-10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63671C22-7F3C-3E87-0C8E-EA2B208D42F0}"/>
              </a:ext>
            </a:extLst>
          </p:cNvPr>
          <p:cNvSpPr txBox="1"/>
          <p:nvPr/>
        </p:nvSpPr>
        <p:spPr>
          <a:xfrm>
            <a:off x="5884545" y="6460642"/>
            <a:ext cx="48069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78787"/>
                </a:solidFill>
                <a:latin typeface="Calibri"/>
                <a:cs typeface="Calibri"/>
              </a:rPr>
              <a:t>B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atch</a:t>
            </a:r>
            <a:r>
              <a:rPr sz="1200" spc="-6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1E52F644-0BED-CB03-D515-0C4A0FD3A1D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24592" y="6460642"/>
            <a:ext cx="14312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800228-9125-1256-6DEA-C4D8FE662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589" y="993647"/>
            <a:ext cx="4824427" cy="5036645"/>
          </a:xfrm>
          <a:prstGeom prst="rec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2A9AF7E-592C-511F-1C23-4D3954B5C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948" y="993647"/>
            <a:ext cx="5309895" cy="503664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7594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9" y="201168"/>
            <a:ext cx="1185672" cy="79247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2DF7865-9727-E246-AB04-70302A17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835" y="1250086"/>
            <a:ext cx="9598965" cy="317631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dirty="0"/>
              <a:t>The AQI Prediction System demonstrates how data mining and machine learning can be used to classify air quality from environmental data. It provides a user-friendly interface for predicting pollution categories and comparing the performance of three classification algorithms.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The system also presents visualizations and health recommendations to improve awareness of pollution levels. Future enhancements may include real-time sensor integration, additional pollutant measurements, and air quality forecasting.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90DE64FE-E6BF-8734-F57F-9CF0F971CB2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24592" y="6460642"/>
            <a:ext cx="14312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DEPARTMENT</a:t>
            </a:r>
            <a:r>
              <a:rPr spc="-1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-20" dirty="0"/>
              <a:t>AIML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A97E984-128D-7E28-414F-E52667B7837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80491" y="6460642"/>
            <a:ext cx="752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10" dirty="0"/>
              <a:t>26</a:t>
            </a:r>
            <a:r>
              <a:rPr spc="-10" dirty="0"/>
              <a:t>/</a:t>
            </a:r>
            <a:r>
              <a:rPr lang="en-US" spc="-10" dirty="0"/>
              <a:t>10</a:t>
            </a:r>
            <a:r>
              <a:rPr spc="-10" dirty="0"/>
              <a:t>/202</a:t>
            </a:r>
            <a:r>
              <a:rPr lang="en-US" spc="-10" dirty="0"/>
              <a:t>6</a:t>
            </a:r>
            <a:endParaRPr spc="-10" dirty="0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7E10D9FA-01EE-596A-E32A-6B7EAC144B02}"/>
              </a:ext>
            </a:extLst>
          </p:cNvPr>
          <p:cNvSpPr txBox="1"/>
          <p:nvPr/>
        </p:nvSpPr>
        <p:spPr>
          <a:xfrm>
            <a:off x="5884545" y="6460642"/>
            <a:ext cx="48069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78787"/>
                </a:solidFill>
                <a:latin typeface="Calibri"/>
                <a:cs typeface="Calibri"/>
              </a:rPr>
              <a:t>B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atch</a:t>
            </a:r>
            <a:r>
              <a:rPr sz="1200" spc="-6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581</Words>
  <Application>Microsoft Macintosh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SRI INDU COLLEGE OF ENGINEERING AND TECHNOLOGY DEPARTMENT OF AIML</vt:lpstr>
      <vt:lpstr>ABSTRACT</vt:lpstr>
      <vt:lpstr>EXISTING SYSTEM</vt:lpstr>
      <vt:lpstr>PROPOSED SYSTEM</vt:lpstr>
      <vt:lpstr>HARDWARE AND SOFTWARE REQUIREMENTS</vt:lpstr>
      <vt:lpstr>IMPLEMENTATION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 INDU COLLEGE OF ENGINEERING AND TECHNOLOGY DEPARTMENT OF AIML</dc:title>
  <cp:lastModifiedBy>Akash Goud</cp:lastModifiedBy>
  <cp:revision>5</cp:revision>
  <dcterms:created xsi:type="dcterms:W3CDTF">2025-11-24T16:20:45Z</dcterms:created>
  <dcterms:modified xsi:type="dcterms:W3CDTF">2026-10-25T13:51:52Z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2025-11-24T00:00:00Z</vt:filetime>
  </property>
  <property fmtid="{D5CDD505-2E9C-101B-9397-08002B2CF9AE}" pid="5" name="Producer">
    <vt:lpwstr>www.ilovepdf.com</vt:lpwstr>
  </property>
</Properties>
</file>